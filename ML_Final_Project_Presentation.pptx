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32B6C5"/>
          </a:solidFill>
          <a:ln w="12700">
            <a:solidFill>
              <a:srgbClr val="32B6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051560"/>
            <a:ext cx="100584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TREES &amp;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PEGASOS SVMs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SCRATCH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BE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Price regression and premium-tier classification on bina.az listings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5669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MLE-AI-201 Machine Learning  •  Cohort II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2B6C5"/>
          </a:solidFill>
          <a:ln w="12700">
            <a:solidFill>
              <a:srgbClr val="32B6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Problem &amp; Dataset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11018520" cy="0"/>
          </a:xfrm>
          <a:prstGeom prst="line">
            <a:avLst/>
          </a:prstGeom>
          <a:noFill/>
          <a:ln w="12700">
            <a:solidFill>
              <a:srgbClr val="D6E5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75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MLE-AI-201  |  ML Final Project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64240" y="6519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5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435608"/>
            <a:ext cx="109728" cy="109728"/>
          </a:xfrm>
          <a:prstGeom prst="ellipse">
            <a:avLst/>
          </a:prstGeom>
          <a:solidFill>
            <a:srgbClr val="32B6C5"/>
          </a:solidFill>
          <a:ln w="12700">
            <a:solidFill>
              <a:srgbClr val="32B6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32588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A: predict the listing sale price (AZN).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31520" y="2057400"/>
            <a:ext cx="109728" cy="109728"/>
          </a:xfrm>
          <a:prstGeom prst="ellipse">
            <a:avLst/>
          </a:prstGeom>
          <a:solidFill>
            <a:srgbClr val="32B6C5"/>
          </a:solidFill>
          <a:ln w="12700">
            <a:solidFill>
              <a:srgbClr val="32B6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4767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B: classify listings as Standard or Premium.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31520" y="2679192"/>
            <a:ext cx="109728" cy="109728"/>
          </a:xfrm>
          <a:prstGeom prst="ellipse">
            <a:avLst/>
          </a:prstGeom>
          <a:solidFill>
            <a:srgbClr val="32B6C5"/>
          </a:solidFill>
          <a:ln w="12700">
            <a:solidFill>
              <a:srgbClr val="32B6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56946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bina.az sale listings; apartments, houses, plots and other properties.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31520" y="3300984"/>
            <a:ext cx="109728" cy="109728"/>
          </a:xfrm>
          <a:prstGeom prst="ellipse">
            <a:avLst/>
          </a:prstGeom>
          <a:solidFill>
            <a:srgbClr val="32B6C5"/>
          </a:solidFill>
          <a:ln w="12700">
            <a:solidFill>
              <a:srgbClr val="32B6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191256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implement core algorithms in NumPy and benchmark against scikit-learn.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77240" y="4892040"/>
            <a:ext cx="10652760" cy="777240"/>
          </a:xfrm>
          <a:prstGeom prst="roundRect">
            <a:avLst>
              <a:gd name="adj" fmla="val 14118"/>
            </a:avLst>
          </a:prstGeom>
          <a:solidFill>
            <a:srgbClr val="EDF4F8"/>
          </a:solidFill>
          <a:ln w="12700">
            <a:solidFill>
              <a:srgbClr val="DDE9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5029200"/>
            <a:ext cx="10250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cleaning and target construction use training-only statistics to reduce leakage.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2B6C5"/>
          </a:solidFill>
          <a:ln w="12700">
            <a:solidFill>
              <a:srgbClr val="32B6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Cleaning, Features &amp; Leakage Control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11018520" cy="0"/>
          </a:xfrm>
          <a:prstGeom prst="line">
            <a:avLst/>
          </a:prstGeom>
          <a:noFill/>
          <a:ln w="12700">
            <a:solidFill>
              <a:srgbClr val="D6E5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75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MLE-AI-201  |  ML Final Project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64240" y="6519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5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389888"/>
            <a:ext cx="109728" cy="109728"/>
          </a:xfrm>
          <a:prstGeom prst="ellipse">
            <a:avLst/>
          </a:prstGeom>
          <a:solidFill>
            <a:srgbClr val="32B6C5"/>
          </a:solidFill>
          <a:ln w="12700">
            <a:solidFill>
              <a:srgbClr val="32B6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28016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Deduplicate repeated listings and near-identical records.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011680"/>
            <a:ext cx="109728" cy="109728"/>
          </a:xfrm>
          <a:prstGeom prst="ellipse">
            <a:avLst/>
          </a:prstGeom>
          <a:solidFill>
            <a:srgbClr val="32B6C5"/>
          </a:solidFill>
          <a:ln w="12700">
            <a:solidFill>
              <a:srgbClr val="32B6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0195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Parse numeric fields, area units, floor information and coordinates.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31520" y="2633472"/>
            <a:ext cx="109728" cy="109728"/>
          </a:xfrm>
          <a:prstGeom prst="ellipse">
            <a:avLst/>
          </a:prstGeom>
          <a:solidFill>
            <a:srgbClr val="32B6C5"/>
          </a:solidFill>
          <a:ln w="12700">
            <a:solidFill>
              <a:srgbClr val="32B6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52374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target-derived fields (unit_price, total_price) and identifiers.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3255264"/>
            <a:ext cx="109728" cy="109728"/>
          </a:xfrm>
          <a:prstGeom prst="ellipse">
            <a:avLst/>
          </a:prstGeom>
          <a:solidFill>
            <a:srgbClr val="32B6C5"/>
          </a:solidFill>
          <a:ln w="12700">
            <a:solidFill>
              <a:srgbClr val="32B6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145536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 imputation, encoding and scaling using training data only.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3877056"/>
            <a:ext cx="109728" cy="109728"/>
          </a:xfrm>
          <a:prstGeom prst="ellipse">
            <a:avLst/>
          </a:prstGeom>
          <a:solidFill>
            <a:srgbClr val="32B6C5"/>
          </a:solidFill>
          <a:ln w="12700">
            <a:solidFill>
              <a:srgbClr val="32B6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76732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Split: 70% train / 15% validation / 15% test; seed = 42.</a:t>
            </a:r>
            <a:endParaRPr lang="en-US" sz="1700" dirty="0"/>
          </a:p>
        </p:txBody>
      </p:sp>
      <p:pic>
        <p:nvPicPr>
          <p:cNvPr id="17" name="Image 0" descr="/mnt/data/mlslides/ML_final_project-main/ML_Final_Project_Starter/report/figures/eda_price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4434840"/>
            <a:ext cx="356616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2B6C5"/>
          </a:solidFill>
          <a:ln w="12700">
            <a:solidFill>
              <a:srgbClr val="32B6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Decision Tree — From Scratch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11018520" cy="0"/>
          </a:xfrm>
          <a:prstGeom prst="line">
            <a:avLst/>
          </a:prstGeom>
          <a:noFill/>
          <a:ln w="12700">
            <a:solidFill>
              <a:srgbClr val="D6E5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75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MLE-AI-201  |  ML Final Project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64240" y="6519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5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389888"/>
            <a:ext cx="109728" cy="109728"/>
          </a:xfrm>
          <a:prstGeom prst="ellipse">
            <a:avLst/>
          </a:prstGeom>
          <a:solidFill>
            <a:srgbClr val="32B6C5"/>
          </a:solidFill>
          <a:ln w="12700">
            <a:solidFill>
              <a:srgbClr val="32B6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2801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Regression: minimize mean squared error (MSE) at each split.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2011680"/>
            <a:ext cx="109728" cy="109728"/>
          </a:xfrm>
          <a:prstGeom prst="ellipse">
            <a:avLst/>
          </a:prstGeom>
          <a:solidFill>
            <a:srgbClr val="32B6C5"/>
          </a:solidFill>
          <a:ln w="12700">
            <a:solidFill>
              <a:srgbClr val="32B6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0195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Classification: select splits using Gini or entropy impurity.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2633472"/>
            <a:ext cx="109728" cy="109728"/>
          </a:xfrm>
          <a:prstGeom prst="ellipse">
            <a:avLst/>
          </a:prstGeom>
          <a:solidFill>
            <a:srgbClr val="32B6C5"/>
          </a:solidFill>
          <a:ln w="12700">
            <a:solidFill>
              <a:srgbClr val="32B6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52374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thresholds over sorted feature values.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" y="3255264"/>
            <a:ext cx="109728" cy="109728"/>
          </a:xfrm>
          <a:prstGeom prst="ellipse">
            <a:avLst/>
          </a:prstGeom>
          <a:solidFill>
            <a:srgbClr val="32B6C5"/>
          </a:solidFill>
          <a:ln w="12700">
            <a:solidFill>
              <a:srgbClr val="32B6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145536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complexity: max_depth, min_samples_split, min_samples_leaf.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31520" y="3877056"/>
            <a:ext cx="109728" cy="109728"/>
          </a:xfrm>
          <a:prstGeom prst="ellipse">
            <a:avLst/>
          </a:prstGeom>
          <a:solidFill>
            <a:srgbClr val="32B6C5"/>
          </a:solidFill>
          <a:ln w="12700">
            <a:solidFill>
              <a:srgbClr val="32B6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76732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Leaves return mean price or class probabilities.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77240" y="4983480"/>
            <a:ext cx="10652760" cy="731520"/>
          </a:xfrm>
          <a:prstGeom prst="roundRect">
            <a:avLst>
              <a:gd name="adj" fmla="val 15000"/>
            </a:avLst>
          </a:prstGeom>
          <a:solidFill>
            <a:srgbClr val="EDF4F8"/>
          </a:solidFill>
          <a:ln w="12700">
            <a:solidFill>
              <a:srgbClr val="DDE9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408" y="5120640"/>
            <a:ext cx="10250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tree captures nonlinear, threshold-like effects in location and property size.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2B6C5"/>
          </a:solidFill>
          <a:ln w="12700">
            <a:solidFill>
              <a:srgbClr val="32B6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Pegasos SVM — From Scratch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11018520" cy="0"/>
          </a:xfrm>
          <a:prstGeom prst="line">
            <a:avLst/>
          </a:prstGeom>
          <a:noFill/>
          <a:ln w="12700">
            <a:solidFill>
              <a:srgbClr val="D6E5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75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MLE-AI-201  |  ML Final Project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64240" y="6519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5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6F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Objective:  λ/2 · ||w||²  +  (1/n) Σ max(0, 1 − yᵢ(wᵀxᵢ + b))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31520" y="2258568"/>
            <a:ext cx="109728" cy="109728"/>
          </a:xfrm>
          <a:prstGeom prst="ellipse">
            <a:avLst/>
          </a:prstGeom>
          <a:solidFill>
            <a:srgbClr val="32B6C5"/>
          </a:solidFill>
          <a:ln w="12700">
            <a:solidFill>
              <a:srgbClr val="32B6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14884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Mini-batch subgradient updates with regularization.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2880360"/>
            <a:ext cx="109728" cy="109728"/>
          </a:xfrm>
          <a:prstGeom prst="ellipse">
            <a:avLst/>
          </a:prstGeom>
          <a:solidFill>
            <a:srgbClr val="32B6C5"/>
          </a:solidFill>
          <a:ln w="12700">
            <a:solidFill>
              <a:srgbClr val="32B6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7063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Standardized input features; linear hinge-loss classifier.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3502152"/>
            <a:ext cx="109728" cy="109728"/>
          </a:xfrm>
          <a:prstGeom prst="ellipse">
            <a:avLst/>
          </a:prstGeom>
          <a:solidFill>
            <a:srgbClr val="32B6C5"/>
          </a:solidFill>
          <a:ln w="12700">
            <a:solidFill>
              <a:srgbClr val="32B6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39242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Hyperparameter search over λ, epochs and learning-rate schedule.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1520" y="4123944"/>
            <a:ext cx="109728" cy="109728"/>
          </a:xfrm>
          <a:prstGeom prst="ellipse">
            <a:avLst/>
          </a:prstGeom>
          <a:solidFill>
            <a:srgbClr val="32B6C5"/>
          </a:solidFill>
          <a:ln w="12700">
            <a:solidFill>
              <a:srgbClr val="32B6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014216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Fourier Features (RFF) approximate a nonlinear RBF kernel.</a:t>
            </a:r>
            <a:endParaRPr lang="en-US" sz="1800" dirty="0"/>
          </a:p>
        </p:txBody>
      </p:sp>
      <p:pic>
        <p:nvPicPr>
          <p:cNvPr id="16" name="Image 0" descr="/mnt/data/mlslides/ML_final_project-main/ML_Final_Project_Starter/report/figures/svm_converg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4343400"/>
            <a:ext cx="429768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2B6C5"/>
          </a:solidFill>
          <a:ln w="12700">
            <a:solidFill>
              <a:srgbClr val="32B6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 Experimental Setup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11018520" cy="0"/>
          </a:xfrm>
          <a:prstGeom prst="line">
            <a:avLst/>
          </a:prstGeom>
          <a:noFill/>
          <a:ln w="12700">
            <a:solidFill>
              <a:srgbClr val="D6E5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75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MLE-AI-201  |  ML Final Project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64240" y="6519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5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481328"/>
            <a:ext cx="109728" cy="109728"/>
          </a:xfrm>
          <a:prstGeom prst="ellipse">
            <a:avLst/>
          </a:prstGeom>
          <a:solidFill>
            <a:srgbClr val="32B6C5"/>
          </a:solidFill>
          <a:ln w="12700">
            <a:solidFill>
              <a:srgbClr val="32B6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3716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/ validation / test separation; tune on validation only.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103120"/>
            <a:ext cx="109728" cy="109728"/>
          </a:xfrm>
          <a:prstGeom prst="ellipse">
            <a:avLst/>
          </a:prstGeom>
          <a:solidFill>
            <a:srgbClr val="32B6C5"/>
          </a:solidFill>
          <a:ln w="12700">
            <a:solidFill>
              <a:srgbClr val="32B6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9339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Regression metrics: RMSE, MAE and R².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31520" y="2724912"/>
            <a:ext cx="109728" cy="109728"/>
          </a:xfrm>
          <a:prstGeom prst="ellipse">
            <a:avLst/>
          </a:prstGeom>
          <a:solidFill>
            <a:srgbClr val="32B6C5"/>
          </a:solidFill>
          <a:ln w="12700">
            <a:solidFill>
              <a:srgbClr val="32B6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61518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 metrics: Accuracy, Precision, Recall, F1, ROC-AUC and PR-AUC.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3346704"/>
            <a:ext cx="109728" cy="109728"/>
          </a:xfrm>
          <a:prstGeom prst="ellipse">
            <a:avLst/>
          </a:prstGeom>
          <a:solidFill>
            <a:srgbClr val="32B6C5"/>
          </a:solidFill>
          <a:ln w="12700">
            <a:solidFill>
              <a:srgbClr val="32B6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236976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Benchmarks: scikit-learn DecisionTree, SGDClassifier and SVC RBF.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3968496"/>
            <a:ext cx="109728" cy="109728"/>
          </a:xfrm>
          <a:prstGeom prst="ellipse">
            <a:avLst/>
          </a:prstGeom>
          <a:solidFill>
            <a:srgbClr val="32B6C5"/>
          </a:solidFill>
          <a:ln w="12700">
            <a:solidFill>
              <a:srgbClr val="32B6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85876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Uncertainty: bootstrap test-set estimates and 5-fold cross-validation.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77240" y="5029200"/>
            <a:ext cx="10652760" cy="777240"/>
          </a:xfrm>
          <a:prstGeom prst="roundRect">
            <a:avLst>
              <a:gd name="adj" fmla="val 14118"/>
            </a:avLst>
          </a:prstGeom>
          <a:solidFill>
            <a:srgbClr val="EDF4F8"/>
          </a:solidFill>
          <a:ln w="12700">
            <a:solidFill>
              <a:srgbClr val="DDE9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408" y="5166360"/>
            <a:ext cx="10250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comparison: from-scratch NumPy implementations vs matched library baselines.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2B6C5"/>
          </a:solidFill>
          <a:ln w="12700">
            <a:solidFill>
              <a:srgbClr val="32B6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 Task A — Price Regression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11018520" cy="0"/>
          </a:xfrm>
          <a:prstGeom prst="line">
            <a:avLst/>
          </a:prstGeom>
          <a:noFill/>
          <a:ln w="12700">
            <a:solidFill>
              <a:srgbClr val="D6E5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75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MLE-AI-201  |  ML Final Project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64240" y="6519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5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53312"/>
          <a:ext cx="10835640" cy="1783080"/>
        </p:xfrm>
        <a:graphic>
          <a:graphicData uri="http://schemas.openxmlformats.org/drawingml/2006/table">
            <a:tbl>
              <a:tblPr/>
              <a:tblGrid>
                <a:gridCol w="3931920"/>
                <a:gridCol w="2423160"/>
                <a:gridCol w="2423160"/>
                <a:gridCol w="20574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3448"/>
                          </a:solidFill>
                        </a:rPr>
                        <a:t>Model</a:t>
                      </a:r>
                      <a:endParaRPr lang="en-US" sz="170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3448"/>
                          </a:solidFill>
                        </a:rPr>
                        <a:t>RMSE (AZN)</a:t>
                      </a:r>
                      <a:endParaRPr lang="en-US" sz="170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3448"/>
                          </a:solidFill>
                        </a:rPr>
                        <a:t>MAE (AZN)</a:t>
                      </a:r>
                      <a:endParaRPr lang="en-US" sz="170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3448"/>
                          </a:solidFill>
                        </a:rPr>
                        <a:t>R²</a:t>
                      </a:r>
                      <a:endParaRPr lang="en-US" sz="170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3448"/>
                          </a:solidFill>
                        </a:rPr>
                        <a:t>Our Decision Tree</a:t>
                      </a:r>
                      <a:endParaRPr lang="en-US" sz="170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3448"/>
                          </a:solidFill>
                        </a:rPr>
                        <a:t>342,525</a:t>
                      </a:r>
                      <a:endParaRPr lang="en-US" sz="170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3448"/>
                          </a:solidFill>
                        </a:rPr>
                        <a:t>102,958</a:t>
                      </a:r>
                      <a:endParaRPr lang="en-US" sz="170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3448"/>
                          </a:solidFill>
                        </a:rPr>
                        <a:t>0.5330</a:t>
                      </a:r>
                      <a:endParaRPr lang="en-US" sz="170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3448"/>
                          </a:solidFill>
                        </a:rPr>
                        <a:t>sklearn Tree</a:t>
                      </a:r>
                      <a:endParaRPr lang="en-US" sz="170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3448"/>
                          </a:solidFill>
                        </a:rPr>
                        <a:t>342,515</a:t>
                      </a:r>
                      <a:endParaRPr lang="en-US" sz="170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3448"/>
                          </a:solidFill>
                        </a:rPr>
                        <a:t>102,938</a:t>
                      </a:r>
                      <a:endParaRPr lang="en-US" sz="170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3448"/>
                          </a:solidFill>
                        </a:rPr>
                        <a:t>0.5331</a:t>
                      </a:r>
                      <a:endParaRPr lang="en-US" sz="170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3448"/>
                          </a:solidFill>
                        </a:rPr>
                        <a:t>Our Log-price Tree</a:t>
                      </a:r>
                      <a:endParaRPr lang="en-US" sz="170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3448"/>
                          </a:solidFill>
                        </a:rPr>
                        <a:t>365,036</a:t>
                      </a:r>
                      <a:endParaRPr lang="en-US" sz="170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3448"/>
                          </a:solidFill>
                        </a:rPr>
                        <a:t>98,963</a:t>
                      </a:r>
                      <a:endParaRPr lang="en-US" sz="170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3448"/>
                          </a:solidFill>
                        </a:rPr>
                        <a:t>0.4696</a:t>
                      </a:r>
                      <a:endParaRPr lang="en-US" sz="170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Image 0" descr="/mnt/data/mlslides/ML_final_project-main/ML_Final_Project_Starter/report/figures/task_a_depth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474720"/>
            <a:ext cx="5029200" cy="2423160"/>
          </a:xfrm>
          <a:prstGeom prst="rect">
            <a:avLst/>
          </a:prstGeom>
        </p:spPr>
      </p:pic>
      <p:pic>
        <p:nvPicPr>
          <p:cNvPr id="9" name="Image 1" descr="/mnt/data/mlslides/ML_final_project-main/ML_Final_Project_Starter/report/figures/task_a_error_by_catego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3474720"/>
            <a:ext cx="5029200" cy="24231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77240" y="59893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6F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tree closely matches sklearn; log-price improves MAE but worsens RMSE.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2B6C5"/>
          </a:solidFill>
          <a:ln w="12700">
            <a:solidFill>
              <a:srgbClr val="32B6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 Task B — Premium vs Standard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11018520" cy="0"/>
          </a:xfrm>
          <a:prstGeom prst="line">
            <a:avLst/>
          </a:prstGeom>
          <a:noFill/>
          <a:ln w="12700">
            <a:solidFill>
              <a:srgbClr val="D6E5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75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MLE-AI-201  |  ML Final Project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64240" y="6519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5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34440"/>
          <a:ext cx="5532120" cy="4206240"/>
        </p:xfrm>
        <a:graphic>
          <a:graphicData uri="http://schemas.openxmlformats.org/drawingml/2006/table">
            <a:tbl>
              <a:tblPr/>
              <a:tblGrid>
                <a:gridCol w="3246120"/>
                <a:gridCol w="1097280"/>
                <a:gridCol w="1188720"/>
              </a:tblGrid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3448"/>
                          </a:solidFill>
                        </a:rPr>
                        <a:t>Model</a:t>
                      </a:r>
                      <a:endParaRPr lang="en-US" sz="140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3448"/>
                          </a:solidFill>
                        </a:rPr>
                        <a:t>F1</a:t>
                      </a:r>
                      <a:endParaRPr lang="en-US" sz="140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3448"/>
                          </a:solidFill>
                        </a:rPr>
                        <a:t>ROC-AUC</a:t>
                      </a:r>
                      <a:endParaRPr lang="en-US" sz="140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3448"/>
                          </a:solidFill>
                        </a:rPr>
                        <a:t>Our Decision Tree</a:t>
                      </a:r>
                      <a:endParaRPr lang="en-US" sz="140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3448"/>
                          </a:solidFill>
                        </a:rPr>
                        <a:t>0.9219</a:t>
                      </a:r>
                      <a:endParaRPr lang="en-US" sz="140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3448"/>
                          </a:solidFill>
                        </a:rPr>
                        <a:t>0.9244</a:t>
                      </a:r>
                      <a:endParaRPr lang="en-US" sz="140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3448"/>
                          </a:solidFill>
                        </a:rPr>
                        <a:t>sklearn Tree</a:t>
                      </a:r>
                      <a:endParaRPr lang="en-US" sz="140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3448"/>
                          </a:solidFill>
                        </a:rPr>
                        <a:t>0.9191</a:t>
                      </a:r>
                      <a:endParaRPr lang="en-US" sz="140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3448"/>
                          </a:solidFill>
                        </a:rPr>
                        <a:t>0.9200</a:t>
                      </a:r>
                      <a:endParaRPr lang="en-US" sz="140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3448"/>
                          </a:solidFill>
                        </a:rPr>
                        <a:t>Our Linear Pegasos</a:t>
                      </a:r>
                      <a:endParaRPr lang="en-US" sz="140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3448"/>
                          </a:solidFill>
                        </a:rPr>
                        <a:t>0.8499</a:t>
                      </a:r>
                      <a:endParaRPr lang="en-US" sz="140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3448"/>
                          </a:solidFill>
                        </a:rPr>
                        <a:t>0.9310</a:t>
                      </a:r>
                      <a:endParaRPr lang="en-US" sz="140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3448"/>
                          </a:solidFill>
                        </a:rPr>
                        <a:t>sklearn SGD Hinge</a:t>
                      </a:r>
                      <a:endParaRPr lang="en-US" sz="140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3448"/>
                          </a:solidFill>
                        </a:rPr>
                        <a:t>0.8501</a:t>
                      </a:r>
                      <a:endParaRPr lang="en-US" sz="140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3448"/>
                          </a:solidFill>
                        </a:rPr>
                        <a:t>0.9300</a:t>
                      </a:r>
                      <a:endParaRPr lang="en-US" sz="140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3448"/>
                          </a:solidFill>
                        </a:rPr>
                        <a:t>Our Pegasos + RFF</a:t>
                      </a:r>
                      <a:endParaRPr lang="en-US" sz="140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3448"/>
                          </a:solidFill>
                        </a:rPr>
                        <a:t>0.8485</a:t>
                      </a:r>
                      <a:endParaRPr lang="en-US" sz="140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3448"/>
                          </a:solidFill>
                        </a:rPr>
                        <a:t>0.9320</a:t>
                      </a:r>
                      <a:endParaRPr lang="en-US" sz="140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3448"/>
                          </a:solidFill>
                        </a:rPr>
                        <a:t>sklearn SVC RBF</a:t>
                      </a:r>
                      <a:endParaRPr lang="en-US" sz="140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3448"/>
                          </a:solidFill>
                        </a:rPr>
                        <a:t>0.8547</a:t>
                      </a:r>
                      <a:endParaRPr lang="en-US" sz="140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3448"/>
                          </a:solidFill>
                        </a:rPr>
                        <a:t>0.9364</a:t>
                      </a:r>
                      <a:endParaRPr lang="en-US" sz="140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8" name="Image 0" descr="/mnt/data/mlslides/ML_final_project-main/ML_Final_Project_Starter/report/figures/task_b_r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417320"/>
            <a:ext cx="4983480" cy="2971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46520" y="480060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6F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Tree wins on F1; SVM-based models score higher on ROC-AUC.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2B6C5"/>
          </a:solidFill>
          <a:ln w="12700">
            <a:solidFill>
              <a:srgbClr val="32B6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 Model Behavior &amp; Error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11018520" cy="0"/>
          </a:xfrm>
          <a:prstGeom prst="line">
            <a:avLst/>
          </a:prstGeom>
          <a:noFill/>
          <a:ln w="12700">
            <a:solidFill>
              <a:srgbClr val="D6E5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75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MLE-AI-201  |  ML Final Project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64240" y="6519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5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100" dirty="0"/>
          </a:p>
        </p:txBody>
      </p:sp>
      <p:pic>
        <p:nvPicPr>
          <p:cNvPr id="7" name="Image 0" descr="/mnt/data/mlslides/ML_final_project-main/ML_Final_Project_Starter/report/figures/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80160"/>
            <a:ext cx="5577840" cy="3200400"/>
          </a:xfrm>
          <a:prstGeom prst="rect">
            <a:avLst/>
          </a:prstGeom>
        </p:spPr>
      </p:pic>
      <p:pic>
        <p:nvPicPr>
          <p:cNvPr id="8" name="Image 1" descr="/mnt/data/mlslides/ML_final_project-main/ML_Final_Project_Starter/report/figures/task_b_confusion_matric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325880"/>
            <a:ext cx="5166360" cy="31546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77240" y="4773168"/>
            <a:ext cx="109728" cy="109728"/>
          </a:xfrm>
          <a:prstGeom prst="ellipse">
            <a:avLst/>
          </a:prstGeom>
          <a:solidFill>
            <a:srgbClr val="32B6C5"/>
          </a:solidFill>
          <a:ln w="12700">
            <a:solidFill>
              <a:srgbClr val="32B6C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51560" y="466344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Size, location and property category are important predictive features.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777240" y="5394960"/>
            <a:ext cx="109728" cy="109728"/>
          </a:xfrm>
          <a:prstGeom prst="ellipse">
            <a:avLst/>
          </a:prstGeom>
          <a:solidFill>
            <a:srgbClr val="32B6C5"/>
          </a:solidFill>
          <a:ln w="12700">
            <a:solidFill>
              <a:srgbClr val="32B6C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051560" y="528523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Price extremes and less-represented property categories remain difficult.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777240" y="6016752"/>
            <a:ext cx="109728" cy="109728"/>
          </a:xfrm>
          <a:prstGeom prst="ellipse">
            <a:avLst/>
          </a:prstGeom>
          <a:solidFill>
            <a:srgbClr val="32B6C5"/>
          </a:solidFill>
          <a:ln w="12700">
            <a:solidFill>
              <a:srgbClr val="32B6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051560" y="590702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Near-threshold premium/standard listings are harder to classify.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2B6C5"/>
          </a:solidFill>
          <a:ln w="12700">
            <a:solidFill>
              <a:srgbClr val="32B6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 Limitations &amp; 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11018520" cy="0"/>
          </a:xfrm>
          <a:prstGeom prst="line">
            <a:avLst/>
          </a:prstGeom>
          <a:noFill/>
          <a:ln w="12700">
            <a:solidFill>
              <a:srgbClr val="D6E5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75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MLE-AI-201  |  ML Final Project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64240" y="6519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5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481328"/>
            <a:ext cx="109728" cy="109728"/>
          </a:xfrm>
          <a:prstGeom prst="ellipse">
            <a:avLst/>
          </a:prstGeom>
          <a:solidFill>
            <a:srgbClr val="32B6C5"/>
          </a:solidFill>
          <a:ln w="12700">
            <a:solidFill>
              <a:srgbClr val="32B6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37160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Listing prices are asking prices, not verified transaction values.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31520" y="2103120"/>
            <a:ext cx="109728" cy="109728"/>
          </a:xfrm>
          <a:prstGeom prst="ellipse">
            <a:avLst/>
          </a:prstGeom>
          <a:solidFill>
            <a:srgbClr val="32B6C5"/>
          </a:solidFill>
          <a:ln w="12700">
            <a:solidFill>
              <a:srgbClr val="32B6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9339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Rare locations and property types can be underrepresented.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31520" y="2724912"/>
            <a:ext cx="109728" cy="109728"/>
          </a:xfrm>
          <a:prstGeom prst="ellipse">
            <a:avLst/>
          </a:prstGeom>
          <a:solidFill>
            <a:srgbClr val="32B6C5"/>
          </a:solidFill>
          <a:ln w="12700">
            <a:solidFill>
              <a:srgbClr val="32B6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615184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price outliers inflate RMSE; tree predictions are not perfect.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31520" y="3346704"/>
            <a:ext cx="109728" cy="109728"/>
          </a:xfrm>
          <a:prstGeom prst="ellipse">
            <a:avLst/>
          </a:prstGeom>
          <a:solidFill>
            <a:srgbClr val="32B6C5"/>
          </a:solidFill>
          <a:ln w="12700">
            <a:solidFill>
              <a:srgbClr val="32B6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23697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RBF SVC baseline uses a smaller training subset.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3968496"/>
            <a:ext cx="109728" cy="109728"/>
          </a:xfrm>
          <a:prstGeom prst="ellipse">
            <a:avLst/>
          </a:prstGeom>
          <a:solidFill>
            <a:srgbClr val="32B6C5"/>
          </a:solidFill>
          <a:ln w="12700">
            <a:solidFill>
              <a:srgbClr val="32B6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85876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category-specific models, richer location features and ensembles.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777240" y="5212080"/>
            <a:ext cx="10652760" cy="713232"/>
          </a:xfrm>
          <a:prstGeom prst="roundRect">
            <a:avLst>
              <a:gd name="adj" fmla="val 15385"/>
            </a:avLst>
          </a:prstGeom>
          <a:solidFill>
            <a:srgbClr val="EDF4F8"/>
          </a:solidFill>
          <a:ln w="12700">
            <a:solidFill>
              <a:srgbClr val="DDE9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408" y="5349240"/>
            <a:ext cx="10250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contributions: [Member 1]  •  [Member 2]  •  [Member 3]  •  [Member 4]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2B6C5"/>
          </a:solidFill>
          <a:ln w="12700">
            <a:solidFill>
              <a:srgbClr val="32B6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 Conclusions &amp; Discussion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11018520" cy="0"/>
          </a:xfrm>
          <a:prstGeom prst="line">
            <a:avLst/>
          </a:prstGeom>
          <a:noFill/>
          <a:ln w="12700">
            <a:solidFill>
              <a:srgbClr val="D6E5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75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MLE-AI-201  |  ML Final Project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64240" y="6519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5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481328"/>
            <a:ext cx="109728" cy="109728"/>
          </a:xfrm>
          <a:prstGeom prst="ellipse">
            <a:avLst/>
          </a:prstGeom>
          <a:solidFill>
            <a:srgbClr val="32B6C5"/>
          </a:solidFill>
          <a:ln w="12700">
            <a:solidFill>
              <a:srgbClr val="32B6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37160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From-scratch Decision Tree closely reproduces sklearn regression performance.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31520" y="2103120"/>
            <a:ext cx="109728" cy="109728"/>
          </a:xfrm>
          <a:prstGeom prst="ellipse">
            <a:avLst/>
          </a:prstGeom>
          <a:solidFill>
            <a:srgbClr val="32B6C5"/>
          </a:solidFill>
          <a:ln w="12700">
            <a:solidFill>
              <a:srgbClr val="32B6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9339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Classification: our tree achieves F1 = 0.9219 on held-out data.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31520" y="2724912"/>
            <a:ext cx="109728" cy="109728"/>
          </a:xfrm>
          <a:prstGeom prst="ellipse">
            <a:avLst/>
          </a:prstGeom>
          <a:solidFill>
            <a:srgbClr val="32B6C5"/>
          </a:solidFill>
          <a:ln w="12700">
            <a:solidFill>
              <a:srgbClr val="32B6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615184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Pegasos reaches F1 = 0.8499 and ROC-AUC = 0.9310.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31520" y="3346704"/>
            <a:ext cx="109728" cy="109728"/>
          </a:xfrm>
          <a:prstGeom prst="ellipse">
            <a:avLst/>
          </a:prstGeom>
          <a:solidFill>
            <a:srgbClr val="32B6C5"/>
          </a:solidFill>
          <a:ln w="12700">
            <a:solidFill>
              <a:srgbClr val="32B6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23697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RFF adds a small ROC-AUC improvement, not an F1 improvement.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3968496"/>
            <a:ext cx="109728" cy="109728"/>
          </a:xfrm>
          <a:prstGeom prst="ellipse">
            <a:avLst/>
          </a:prstGeom>
          <a:solidFill>
            <a:srgbClr val="32B6C5"/>
          </a:solidFill>
          <a:ln w="12700">
            <a:solidFill>
              <a:srgbClr val="32B6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85876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choice depends on the evaluation metric and deployment objective.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22960" y="534924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6F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  •  QUESTIONS?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Trees and Pegasos SVMs from Scratch</dc:title>
  <dc:subject>Machine Learning Final Project</dc:subject>
  <dc:creator>ML Project Team</dc:creator>
  <cp:lastModifiedBy>ML Project Team</cp:lastModifiedBy>
  <cp:revision>1</cp:revision>
  <dcterms:created xsi:type="dcterms:W3CDTF">2026-10-17T22:58:02Z</dcterms:created>
  <dcterms:modified xsi:type="dcterms:W3CDTF">2026-10-17T22:58:02Z</dcterms:modified>
</cp:coreProperties>
</file>