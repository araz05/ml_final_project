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82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32339"/>
                </a:solidFill>
                <a:latin typeface="Aptos"/>
              </a:defRPr>
            </a:pPr>
            <a:r>
              <a:t>Property Price Prediction &amp; Price-Tier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241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4B5867"/>
                </a:solidFill>
                <a:latin typeface="Aptos"/>
              </a:defRPr>
            </a:pPr>
            <a:r>
              <a:t>From-scratch Decision Trees and Pegasos SVM | MLE-AI-201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B586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32339"/>
                </a:solidFill>
                <a:latin typeface="Aptos"/>
              </a:defRPr>
            </a:pPr>
            <a:r>
              <a:t>Azerbaijan real-estate listings</a:t>
            </a:r>
          </a:p>
          <a:p>
            <a:pPr>
              <a:spcAft>
                <a:spcPts val="1200"/>
              </a:spcAft>
              <a:defRPr sz="3200" b="1">
                <a:solidFill>
                  <a:srgbClr val="132339"/>
                </a:solidFill>
                <a:latin typeface="Aptos"/>
              </a:defRPr>
            </a:pPr>
            <a:r>
              <a:t>100,773 cleaned records · 7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66360"/>
            <a:ext cx="10058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4B5867"/>
                </a:solidFill>
                <a:latin typeface="Aptos"/>
              </a:defRPr>
            </a:pPr>
            <a:r>
              <a:rPr dirty="0"/>
              <a:t>Team </a:t>
            </a:r>
            <a:r>
              <a:rPr lang="az-Latn-AZ" dirty="0"/>
              <a:t>members: Joshgun Malikov, Huseynali Mehdiyev, Araz Velishov, Elsef Bagirov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32339"/>
                </a:solidFill>
                <a:latin typeface="Aptos"/>
              </a:defRPr>
            </a:pPr>
            <a:r>
              <a:t>Problem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241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4B5867"/>
                </a:solidFill>
                <a:latin typeface="Aptos"/>
              </a:defRPr>
            </a:pPr>
            <a:r>
              <a:t>Two supervised learning tasks for each property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B586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132339"/>
                </a:solidFill>
                <a:latin typeface="Aptos"/>
              </a:defRPr>
            </a:pPr>
            <a:r>
              <a:t>REGRESSION</a:t>
            </a:r>
          </a:p>
          <a:p>
            <a:pPr>
              <a:spcAft>
                <a:spcPts val="1200"/>
              </a:spcAft>
              <a:defRPr sz="2700" b="1">
                <a:solidFill>
                  <a:srgbClr val="132339"/>
                </a:solidFill>
                <a:latin typeface="Aptos"/>
              </a:defRPr>
            </a:pPr>
            <a:r>
              <a:t>Predict listing price (AZN)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32339"/>
                </a:solidFill>
                <a:latin typeface="Aptos"/>
              </a:defRPr>
            </a:pPr>
            <a:r>
              <a:t>CLASSIFICATION</a:t>
            </a:r>
          </a:p>
          <a:p>
            <a:pPr>
              <a:spcAft>
                <a:spcPts val="1200"/>
              </a:spcAft>
              <a:defRPr sz="2500" b="1">
                <a:solidFill>
                  <a:srgbClr val="132339"/>
                </a:solidFill>
                <a:latin typeface="Aptos"/>
              </a:defRPr>
            </a:pPr>
            <a:r>
              <a:t>Premium vs. standard using the category training-price median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32339"/>
                </a:solidFill>
                <a:latin typeface="Aptos"/>
              </a:defRPr>
            </a:pPr>
            <a:r>
              <a:t>57,895 new-build · 18,099 older apartments · 15,571 houses</a:t>
            </a:r>
          </a:p>
          <a:p>
            <a:pPr>
              <a:spcAft>
                <a:spcPts val="1200"/>
              </a:spcAft>
              <a:defRPr sz="1900" b="0">
                <a:solidFill>
                  <a:srgbClr val="132339"/>
                </a:solidFill>
                <a:latin typeface="Aptos"/>
              </a:defRPr>
            </a:pPr>
            <a:r>
              <a:t>4,919 land · 4,046 commercial · 154 offices · 89 garages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32339"/>
                </a:solidFill>
                <a:latin typeface="Aptos"/>
              </a:defRPr>
            </a:pPr>
            <a:r>
              <a:t>Preprocessing &amp; Leakage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241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4B5867"/>
                </a:solidFill>
                <a:latin typeface="Aptos"/>
              </a:defRPr>
            </a:pPr>
            <a:r>
              <a:t>100,775 raw rows → 100,773 after removing two extreme-price listings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B586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32339"/>
                </a:solidFill>
                <a:latin typeface="Aptos"/>
              </a:defRPr>
            </a:pPr>
            <a:r>
              <a:t>• Separate models and evaluation for each category</a:t>
            </a:r>
          </a:p>
          <a:p>
            <a:pPr>
              <a:spcAft>
                <a:spcPts val="1200"/>
              </a:spcAft>
              <a:defRPr sz="2300" b="0">
                <a:solidFill>
                  <a:srgbClr val="132339"/>
                </a:solidFill>
                <a:latin typeface="Aptos"/>
              </a:defRPr>
            </a:pPr>
            <a:r>
              <a:t>• Encode categorical fields; impute missing numerical values</a:t>
            </a:r>
          </a:p>
          <a:p>
            <a:pPr>
              <a:spcAft>
                <a:spcPts val="1200"/>
              </a:spcAft>
              <a:defRPr sz="2300" b="0">
                <a:solidFill>
                  <a:srgbClr val="132339"/>
                </a:solidFill>
                <a:latin typeface="Aptos"/>
              </a:defRPr>
            </a:pPr>
            <a:r>
              <a:t>• Standardize numerical inputs for SVM</a:t>
            </a:r>
          </a:p>
          <a:p>
            <a:pPr>
              <a:spcAft>
                <a:spcPts val="1200"/>
              </a:spcAft>
              <a:defRPr sz="2300" b="0">
                <a:solidFill>
                  <a:srgbClr val="132339"/>
                </a:solidFill>
                <a:latin typeface="Aptos"/>
              </a:defRPr>
            </a:pPr>
            <a:r>
              <a:t>• Exclude identifiers and price-derived predictors</a:t>
            </a:r>
          </a:p>
          <a:p>
            <a:pPr>
              <a:spcAft>
                <a:spcPts val="1200"/>
              </a:spcAft>
              <a:defRPr sz="2300" b="0">
                <a:solidFill>
                  <a:srgbClr val="132339"/>
                </a:solidFill>
                <a:latin typeface="Aptos"/>
              </a:defRPr>
            </a:pPr>
            <a:r>
              <a:t>• Group known listing item IDs across train / validation /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9197"/>
                </a:solidFill>
                <a:latin typeface="Aptos"/>
              </a:defRPr>
            </a:pPr>
            <a:r>
              <a:t>Approx. 70% train · 15% validation · 15% held-out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32339"/>
                </a:solidFill>
                <a:latin typeface="Aptos"/>
              </a:defRPr>
            </a:pPr>
            <a:r>
              <a:t>NumPy Decision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241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4B5867"/>
                </a:solidFill>
                <a:latin typeface="Aptos"/>
              </a:defRPr>
            </a:pPr>
            <a:r>
              <a:t>Recursive, feature-threshold-based partitioning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B586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132339"/>
                </a:solidFill>
                <a:latin typeface="Aptos"/>
              </a:defRPr>
            </a:pPr>
            <a:r>
              <a:t>Regression: minimize squared error; predict leaf mean</a:t>
            </a:r>
          </a:p>
          <a:p>
            <a:pPr>
              <a:spcAft>
                <a:spcPts val="1200"/>
              </a:spcAft>
              <a:defRPr sz="2400" b="0">
                <a:solidFill>
                  <a:srgbClr val="132339"/>
                </a:solidFill>
                <a:latin typeface="Aptos"/>
              </a:defRPr>
            </a:pPr>
            <a:r>
              <a:t>Classification: minimize Gini impurity; predict leaf class</a:t>
            </a:r>
          </a:p>
          <a:p>
            <a:pPr>
              <a:spcAft>
                <a:spcPts val="1200"/>
              </a:spcAft>
              <a:defRPr sz="2400" b="0">
                <a:solidFill>
                  <a:srgbClr val="132339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2400" b="0">
                <a:solidFill>
                  <a:srgbClr val="132339"/>
                </a:solidFill>
                <a:latin typeface="Aptos"/>
              </a:defRPr>
            </a:pPr>
            <a:r>
              <a:t>Max depth: 20   |   Min split: 20   |   Min leaf: 2   |   Seed: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1663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09197"/>
                </a:solidFill>
                <a:latin typeface="Aptos"/>
              </a:defRPr>
            </a:pPr>
            <a:r>
              <a:t>Implemented from scratch and compared with scikit-learn baselines.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32339"/>
                </a:solidFill>
                <a:latin typeface="Aptos"/>
              </a:defRPr>
            </a:pPr>
            <a:r>
              <a:t>NumPy Pegasos SVM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241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4B5867"/>
                </a:solidFill>
                <a:latin typeface="Aptos"/>
              </a:defRPr>
            </a:pPr>
            <a:r>
              <a:t>Linear margin classifier optimized by stochastic subgradient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B586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32339"/>
                </a:solidFill>
                <a:latin typeface="Aptos"/>
              </a:defRPr>
            </a:pPr>
            <a:r>
              <a:t>Objective:  λ/2 ||w||² + mean(max(0, 1 − y(w·x + b)))</a:t>
            </a:r>
          </a:p>
          <a:p>
            <a:pPr>
              <a:spcAft>
                <a:spcPts val="1200"/>
              </a:spcAft>
              <a:defRPr sz="2300" b="0">
                <a:solidFill>
                  <a:srgbClr val="132339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2300" b="0">
                <a:solidFill>
                  <a:srgbClr val="132339"/>
                </a:solidFill>
                <a:latin typeface="Aptos"/>
              </a:defRPr>
            </a:pPr>
            <a:r>
              <a:t>Pegasos: λ = 0.001, 300,000 iterations</a:t>
            </a:r>
          </a:p>
          <a:p>
            <a:pPr>
              <a:spcAft>
                <a:spcPts val="1200"/>
              </a:spcAft>
              <a:defRPr sz="2300" b="0">
                <a:solidFill>
                  <a:srgbClr val="132339"/>
                </a:solidFill>
                <a:latin typeface="Aptos"/>
              </a:defRPr>
            </a:pPr>
            <a:r>
              <a:t>LinearSVC baseline: C = 0.1, squared hinge, max_iter = 50,000</a:t>
            </a:r>
          </a:p>
          <a:p>
            <a:pPr>
              <a:spcAft>
                <a:spcPts val="1200"/>
              </a:spcAft>
              <a:defRPr sz="2300" b="0">
                <a:solidFill>
                  <a:srgbClr val="132339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2300" b="0">
                <a:solidFill>
                  <a:srgbClr val="132339"/>
                </a:solidFill>
                <a:latin typeface="Aptos"/>
              </a:defRPr>
            </a:pPr>
            <a:r>
              <a:t>No kernelized SVM was implemented.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32339"/>
                </a:solidFill>
                <a:latin typeface="Aptos"/>
              </a:defRPr>
            </a:pPr>
            <a:r>
              <a:t>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241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4B5867"/>
                </a:solidFill>
                <a:latin typeface="Aptos"/>
              </a:defRPr>
            </a:pPr>
            <a:r>
              <a:t>Validation selects configurations; held-out test is evaluated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B586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32339"/>
                </a:solidFill>
                <a:latin typeface="Aptos"/>
              </a:defRPr>
            </a:pPr>
            <a:r>
              <a:t>Regression metrics: MAE, RMSE, median absolute error, R²</a:t>
            </a:r>
          </a:p>
          <a:p>
            <a:pPr>
              <a:spcAft>
                <a:spcPts val="1200"/>
              </a:spcAft>
              <a:defRPr sz="2300" b="0">
                <a:solidFill>
                  <a:srgbClr val="132339"/>
                </a:solidFill>
                <a:latin typeface="Aptos"/>
              </a:defRPr>
            </a:pPr>
            <a:r>
              <a:t>Classification metrics: accuracy, precision, recall, F1, ROC-AUC</a:t>
            </a:r>
          </a:p>
          <a:p>
            <a:pPr>
              <a:spcAft>
                <a:spcPts val="1200"/>
              </a:spcAft>
              <a:defRPr sz="2300" b="0">
                <a:solidFill>
                  <a:srgbClr val="132339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2300" b="0">
                <a:solidFill>
                  <a:srgbClr val="132339"/>
                </a:solidFill>
                <a:latin typeface="Aptos"/>
              </a:defRPr>
            </a:pPr>
            <a:r>
              <a:t>Final Decision Tree evaluation refits on train + validation.</a:t>
            </a:r>
          </a:p>
          <a:p>
            <a:pPr>
              <a:spcAft>
                <a:spcPts val="1200"/>
              </a:spcAft>
              <a:defRPr sz="2300" b="0">
                <a:solidFill>
                  <a:srgbClr val="132339"/>
                </a:solidFill>
                <a:latin typeface="Aptos"/>
              </a:defRPr>
            </a:pPr>
            <a:r>
              <a:t>Scores are from one split, not cross-validation averages.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32339"/>
                </a:solidFill>
                <a:latin typeface="Aptos"/>
              </a:defRPr>
            </a:pPr>
            <a:r>
              <a:t>Validation: Classification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241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4B5867"/>
                </a:solidFill>
                <a:latin typeface="Aptos"/>
              </a:defRPr>
            </a:pPr>
            <a:r>
              <a:t>F1 scores across Decision Tree, Pegasos and LinearSVC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B5867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6" name="Picture 5" descr="test_f1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103784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32339"/>
                </a:solidFill>
                <a:latin typeface="Aptos"/>
              </a:defRPr>
            </a:pPr>
            <a:r>
              <a:t>Held-Out Test: Decision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241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4B5867"/>
                </a:solidFill>
                <a:latin typeface="Aptos"/>
              </a:defRPr>
            </a:pPr>
            <a:r>
              <a:t>Strongest classification F1: new-build apartments (0.916)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B5867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6" name="Picture 5" descr="test_f1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22376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920240"/>
            <a:ext cx="3840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32339"/>
                </a:solidFill>
                <a:latin typeface="Aptos"/>
              </a:defRPr>
            </a:pPr>
            <a:r>
              <a:t>New-build: MAE 38,428 AZN</a:t>
            </a:r>
          </a:p>
          <a:p>
            <a:pPr>
              <a:spcAft>
                <a:spcPts val="1200"/>
              </a:spcAft>
              <a:defRPr sz="2000" b="0">
                <a:solidFill>
                  <a:srgbClr val="132339"/>
                </a:solidFill>
                <a:latin typeface="Aptos"/>
              </a:defRPr>
            </a:pPr>
            <a:r>
              <a:t>R² 0.712 · F1 0.916</a:t>
            </a:r>
          </a:p>
          <a:p>
            <a:pPr>
              <a:spcAft>
                <a:spcPts val="1200"/>
              </a:spcAft>
              <a:defRPr sz="2000" b="0">
                <a:solidFill>
                  <a:srgbClr val="132339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2000" b="0">
                <a:solidFill>
                  <a:srgbClr val="132339"/>
                </a:solidFill>
                <a:latin typeface="Aptos"/>
              </a:defRPr>
            </a:pPr>
            <a:r>
              <a:t>Older apartments: MAE 22,217 AZN</a:t>
            </a:r>
          </a:p>
          <a:p>
            <a:pPr>
              <a:spcAft>
                <a:spcPts val="1200"/>
              </a:spcAft>
              <a:defRPr sz="2000" b="0">
                <a:solidFill>
                  <a:srgbClr val="132339"/>
                </a:solidFill>
                <a:latin typeface="Aptos"/>
              </a:defRPr>
            </a:pPr>
            <a:r>
              <a:t>R² 0.710 · F1 0.879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32339"/>
                </a:solidFill>
                <a:latin typeface="Aptos"/>
              </a:defRPr>
            </a:pPr>
            <a:r>
              <a:t>Regression Failures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241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4B5867"/>
                </a:solidFill>
                <a:latin typeface="Aptos"/>
              </a:defRPr>
            </a:pPr>
            <a:r>
              <a:t>Performance differs sharply across property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B5867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6" name="Picture 5" descr="test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04088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173736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32339"/>
                </a:solidFill>
                <a:latin typeface="Aptos"/>
              </a:defRPr>
            </a:pPr>
            <a:r>
              <a:t>Garage R² = −76.78</a:t>
            </a:r>
          </a:p>
          <a:p>
            <a:pPr>
              <a:spcAft>
                <a:spcPts val="1200"/>
              </a:spcAft>
              <a:defRPr sz="1900" b="0">
                <a:solidFill>
                  <a:srgbClr val="132339"/>
                </a:solidFill>
                <a:latin typeface="Aptos"/>
              </a:defRPr>
            </a:pPr>
            <a:r>
              <a:t>Land R² = 0.078</a:t>
            </a:r>
          </a:p>
          <a:p>
            <a:pPr>
              <a:spcAft>
                <a:spcPts val="1200"/>
              </a:spcAft>
              <a:defRPr sz="1900" b="0">
                <a:solidFill>
                  <a:srgbClr val="132339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1900" b="0">
                <a:solidFill>
                  <a:srgbClr val="132339"/>
                </a:solidFill>
                <a:latin typeface="Aptos"/>
              </a:defRPr>
            </a:pPr>
            <a:r>
              <a:t>Small test groups: office 28, garage 12</a:t>
            </a:r>
          </a:p>
          <a:p>
            <a:pPr>
              <a:spcAft>
                <a:spcPts val="1200"/>
              </a:spcAft>
              <a:defRPr sz="1900" b="0">
                <a:solidFill>
                  <a:srgbClr val="132339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1900" b="0">
                <a:solidFill>
                  <a:srgbClr val="132339"/>
                </a:solidFill>
                <a:latin typeface="Aptos"/>
              </a:defRPr>
            </a:pPr>
            <a:r>
              <a:t>Relisted properties may evade URL-based grouping.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32339"/>
                </a:solidFill>
                <a:latin typeface="Aptos"/>
              </a:defRPr>
            </a:pPr>
            <a:r>
              <a:t>Conclusions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241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4B5867"/>
                </a:solidFill>
                <a:latin typeface="Aptos"/>
              </a:defRPr>
            </a:pPr>
            <a:r>
              <a:t>Category-specific evaluation is essential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4B586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7899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32339"/>
                </a:solidFill>
                <a:latin typeface="Aptos"/>
              </a:defRPr>
            </a:pPr>
            <a:r>
              <a:t>• From-scratch NumPy models and sklearn comparisons completed</a:t>
            </a:r>
          </a:p>
          <a:p>
            <a:pPr>
              <a:spcAft>
                <a:spcPts val="1200"/>
              </a:spcAft>
              <a:defRPr sz="2200" b="0">
                <a:solidFill>
                  <a:srgbClr val="132339"/>
                </a:solidFill>
                <a:latin typeface="Aptos"/>
              </a:defRPr>
            </a:pPr>
            <a:r>
              <a:t>• Apartment categories show stronger generalization</a:t>
            </a:r>
          </a:p>
          <a:p>
            <a:pPr>
              <a:spcAft>
                <a:spcPts val="1200"/>
              </a:spcAft>
              <a:defRPr sz="2200" b="0">
                <a:solidFill>
                  <a:srgbClr val="132339"/>
                </a:solidFill>
                <a:latin typeface="Aptos"/>
              </a:defRPr>
            </a:pPr>
            <a:r>
              <a:t>• Land, commercial and small-sample groups remain challenging</a:t>
            </a:r>
          </a:p>
          <a:p>
            <a:pPr>
              <a:spcAft>
                <a:spcPts val="1200"/>
              </a:spcAft>
              <a:defRPr sz="2200" b="0">
                <a:solidFill>
                  <a:srgbClr val="132339"/>
                </a:solidFill>
                <a:latin typeface="Aptos"/>
              </a:defRPr>
            </a:pPr>
            <a:r>
              <a:t>• Future: richer features, robust grouping and uncertainty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462</Words>
  <Application>Microsoft Office PowerPoint</Application>
  <PresentationFormat>Custom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Coşqun Məlikov</cp:lastModifiedBy>
  <cp:revision>2</cp:revision>
  <dcterms:created xsi:type="dcterms:W3CDTF">2013-01-27T09:14:16Z</dcterms:created>
  <dcterms:modified xsi:type="dcterms:W3CDTF">2026-10-17T19:02:01Z</dcterms:modified>
  <cp:category/>
</cp:coreProperties>
</file>